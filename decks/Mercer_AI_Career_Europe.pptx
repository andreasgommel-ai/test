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A1A40"/>
                </a:solidFill>
                <a:latin typeface="Calibri"/>
              </a:rPr>
              <a:t>Growth in job ads mentioning generative AI (% YoY, to Mar 2025)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0073CF"/>
            </a:solidFill>
          </c:spPr>
          <c:cat>
            <c:strRef>
              <c:f>Sheet1!$A$2:$A$5</c:f>
              <c:strCache>
                <c:ptCount val="4"/>
                <c:pt idx="0">
                  <c:v>Ireland</c:v>
                </c:pt>
                <c:pt idx="1">
                  <c:v>UK</c:v>
                </c:pt>
                <c:pt idx="2">
                  <c:v>Germany</c:v>
                </c:pt>
                <c:pt idx="3">
                  <c:v>France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204</c:v>
                </c:pt>
                <c:pt idx="1">
                  <c:v>120</c:v>
                </c:pt>
                <c:pt idx="2">
                  <c:v>109</c:v>
                </c:pt>
                <c:pt idx="3">
                  <c:v>91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0A1A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356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46304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21224"/>
            <a:ext cx="12191695" cy="5486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AI's Impact on the Future of Careers in Europe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4EA"/>
                </a:solidFill>
                <a:latin typeface="Calibri"/>
              </a:rPr>
              <a:t>Market outlook and strategic implications for Mercer's Career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A19A"/>
                </a:solidFill>
                <a:latin typeface="Calibri"/>
              </a:rPr>
              <a:t>Internal leadership briefing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Calibri"/>
              </a:rPr>
              <a:t>June 2026  ·  Prepared for Mercer Career — Europe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BRIEFING OVERVIEW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90472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The AI inflection point   </a:t>
            </a:r>
            <a:r>
              <a:rPr sz="1200">
                <a:solidFill>
                  <a:srgbClr val="53565A"/>
                </a:solidFill>
                <a:latin typeface="Calibri"/>
              </a:rPr>
              <a:t>Why AI is a structural shift for European labour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85416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854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6712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The talent paradox   </a:t>
            </a:r>
            <a:r>
              <a:rPr sz="1200">
                <a:solidFill>
                  <a:srgbClr val="53565A"/>
                </a:solidFill>
                <a:latin typeface="Calibri"/>
              </a:rPr>
              <a:t>Mercer Global Talent Trends 2026 — the leadership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62072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620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43784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Automation vs. augmentation   </a:t>
            </a:r>
            <a:r>
              <a:rPr sz="1200">
                <a:solidFill>
                  <a:srgbClr val="53565A"/>
                </a:solidFill>
                <a:latin typeface="Calibri"/>
              </a:rPr>
              <a:t>What AI actually does to European work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38728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38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20440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The widening skills gap   </a:t>
            </a:r>
            <a:r>
              <a:rPr sz="1200">
                <a:solidFill>
                  <a:srgbClr val="53565A"/>
                </a:solidFill>
                <a:latin typeface="Calibri"/>
              </a:rPr>
              <a:t>Where demand is shifting fastest across Europe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15384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9709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Workforce sentiment &amp; trust   </a:t>
            </a:r>
            <a:r>
              <a:rPr sz="1200">
                <a:solidFill>
                  <a:srgbClr val="53565A"/>
                </a:solidFill>
                <a:latin typeface="Calibri"/>
              </a:rPr>
              <a:t>Wellbeing, fear and the readiness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92040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73752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Implications for Mercer Career   </a:t>
            </a:r>
            <a:r>
              <a:rPr sz="1200">
                <a:solidFill>
                  <a:srgbClr val="53565A"/>
                </a:solidFill>
                <a:latin typeface="Calibri"/>
              </a:rPr>
              <a:t>Threats, and where Mercer wins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568696"/>
            <a:ext cx="566928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68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5040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A1A40"/>
                </a:solidFill>
                <a:latin typeface="Calibri"/>
              </a:rPr>
              <a:t>Strategic recommendations   </a:t>
            </a:r>
            <a:r>
              <a:rPr sz="1200">
                <a:solidFill>
                  <a:srgbClr val="53565A"/>
                </a:solidFill>
                <a:latin typeface="Calibri"/>
              </a:rPr>
              <a:t>A horizon-based action agenda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EXECUTIVE 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The bottom line for Mercer Career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92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 b="1">
                <a:solidFill>
                  <a:srgbClr val="1A1D29"/>
                </a:solidFill>
                <a:latin typeface="Calibri"/>
              </a:rPr>
              <a:t>A structural shift, not a cycle. </a:t>
            </a:r>
            <a:r>
              <a:rPr sz="1400">
                <a:solidFill>
                  <a:srgbClr val="53565A"/>
                </a:solidFill>
                <a:latin typeface="Calibri"/>
              </a:rPr>
              <a:t>AI is reshaping European work faster than organisations can adapt — the gap between skills held and skills needed is widening, not closing.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 b="1">
                <a:solidFill>
                  <a:srgbClr val="1A1D29"/>
                </a:solidFill>
                <a:latin typeface="Calibri"/>
              </a:rPr>
              <a:t>Augmentation now, redesign next. </a:t>
            </a:r>
            <a:r>
              <a:rPr sz="1400">
                <a:solidFill>
                  <a:srgbClr val="53565A"/>
                </a:solidFill>
                <a:latin typeface="Calibri"/>
              </a:rPr>
              <a:t>The dominant pattern in Europe today is augmentation, but leaders are already redesigning org structures and roles for an AI operating model.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 b="1">
                <a:solidFill>
                  <a:srgbClr val="1A1D29"/>
                </a:solidFill>
                <a:latin typeface="Calibri"/>
              </a:rPr>
              <a:t>Demand pull for Mercer is real. </a:t>
            </a:r>
            <a:r>
              <a:rPr sz="1400">
                <a:solidFill>
                  <a:srgbClr val="53565A"/>
                </a:solidFill>
                <a:latin typeface="Calibri"/>
              </a:rPr>
              <a:t>Demand for skills-based organisation design, reskilling, AI-ready career frameworks, work redesign and reward recalibration is accelerating.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 b="1">
                <a:solidFill>
                  <a:srgbClr val="1A1D29"/>
                </a:solidFill>
                <a:latin typeface="Calibri"/>
              </a:rPr>
              <a:t>The human edge matters. </a:t>
            </a:r>
            <a:r>
              <a:rPr sz="1400">
                <a:solidFill>
                  <a:srgbClr val="53565A"/>
                </a:solidFill>
                <a:latin typeface="Calibri"/>
              </a:rPr>
              <a:t>Employee trust and wellbeing are falling while AI-related fear rises — the human side of transformation is Mercer's natural right to win.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 b="1">
                <a:solidFill>
                  <a:srgbClr val="1A1D29"/>
                </a:solidFill>
                <a:latin typeface="Calibri"/>
              </a:rPr>
              <a:t>Practise what we advise. </a:t>
            </a:r>
            <a:r>
              <a:rPr sz="1400">
                <a:solidFill>
                  <a:srgbClr val="53565A"/>
                </a:solidFill>
                <a:latin typeface="Calibri"/>
              </a:rPr>
              <a:t>Mercer must also apply AI inside its own Career delivery to protect margin and stay credible as an adviser on AI-enabled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417320"/>
            <a:ext cx="4160520" cy="4800600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566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00A19A"/>
                </a:solidFill>
                <a:latin typeface="Calibri"/>
              </a:rPr>
              <a:t>THE SIGNAL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6A39"/>
                </a:solidFill>
                <a:latin typeface="Calibri"/>
              </a:rPr>
              <a:t>98%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of executives plan organisational design changes within two years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6A39"/>
                </a:solidFill>
                <a:latin typeface="Calibri"/>
              </a:rPr>
              <a:t>65%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expect 11–30% of their workforce to be reskilled or redeployed due to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Source: Mercer Global Talent Trends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01  ·  THE AI INFLECTION POINT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AI is a structural shift for European labour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2670048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182880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2359152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73CF"/>
                </a:solidFill>
                <a:latin typeface="Calibri"/>
              </a:rPr>
              <a:t>~1 in 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EU adults already use generative AI tools in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1463040"/>
            <a:ext cx="2670048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463040"/>
            <a:ext cx="73152" cy="1828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591056"/>
            <a:ext cx="2359152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A19A"/>
                </a:solidFill>
                <a:latin typeface="Calibri"/>
              </a:rPr>
              <a:t>58%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current work hours across 10 European countries are technically automatable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2670048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63040"/>
            <a:ext cx="73152" cy="1828800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91056"/>
            <a:ext cx="2359152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6A39"/>
                </a:solidFill>
                <a:latin typeface="Calibri"/>
              </a:rPr>
              <a:t>+4%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average lift in EU labour productivity from AI adoption — with no short-run job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5128" y="1463040"/>
            <a:ext cx="2670048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5128" y="1463040"/>
            <a:ext cx="73152" cy="1828800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91056"/>
            <a:ext cx="2359152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A1A40"/>
                </a:solidFill>
                <a:latin typeface="Calibri"/>
              </a:rPr>
              <a:t>$1.9T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potential economic value in Europe by 2030, gated by pace of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11018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A1A40"/>
                </a:solidFill>
                <a:latin typeface="Calibri"/>
              </a:rPr>
              <a:t>Why this is different from past automation waves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Generative AI reaches cognitive, non-routine tasks — knowledge and professional roles, not just routine manual work.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Adoption is bottom-up and fast: employees bring AI to work before organisations have redesigned the work around it.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The constraint is no longer technology — it is organisation design, skills, governance and trust. That is HR and Career terrain.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99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Sources: ILO / EPC (2025); McKinsey Global Institute, ‘Agents, robots and us — Europe’ (2026); CEPR (2025).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02  ·  THE TALENT PARADOX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Mercer Global Talent Trends 2026 — the leadership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3565A"/>
                </a:solidFill>
                <a:latin typeface="Calibri"/>
              </a:rPr>
              <a:t>The C-suite is caught between two truths: AI means fewer people may be needed for today's work — yet there is not enough talent with the skills tomorrow's AI-enabled work demands.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Resolving this paradox is the core people-strategy challenge of 2026 — and Mercer's central advisory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73152" cy="148132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499616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73CF"/>
                </a:solidFill>
                <a:latin typeface="Calibri"/>
              </a:rPr>
              <a:t>98%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execs planning org-design change in 2 yrs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371600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15400" y="1371600"/>
            <a:ext cx="73152" cy="1481328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499616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A19A"/>
                </a:solidFill>
                <a:latin typeface="Calibri"/>
              </a:rPr>
              <a:t>63%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say redesigning work for AI drives the greatest 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962656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962656"/>
            <a:ext cx="73152" cy="14813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90672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6A39"/>
                </a:solidFill>
                <a:latin typeface="Calibri"/>
              </a:rPr>
              <a:t>65%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expect 11–30% of staff reskilled / redeployed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962656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962656"/>
            <a:ext cx="73152" cy="14813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3090672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A1A40"/>
                </a:solidFill>
                <a:latin typeface="Calibri"/>
              </a:rPr>
              <a:t>59%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HR leaders: attracting digital talent is the #1 challenge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553712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553712"/>
            <a:ext cx="73152" cy="148132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681728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73CF"/>
                </a:solidFill>
                <a:latin typeface="Calibri"/>
              </a:rPr>
              <a:t>51%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C-suite feel ready for the human-machine era (was 65% in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4553712"/>
            <a:ext cx="2670048" cy="14813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4553712"/>
            <a:ext cx="73152" cy="14813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4681728"/>
            <a:ext cx="235915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6A39"/>
                </a:solidFill>
                <a:latin typeface="Calibri"/>
              </a:rPr>
              <a:t>40%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employees fear AI job loss (was 28% in 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99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Source: Mercer Global Talent Trends 2026 (≈12,000 executives, HR leaders, employees &amp; investors; 16 geographies; Sep–Oct 2025).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03  ·  AUTOMATION VS. AUGMENTATION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What AI actually does to European work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39496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394960" cy="5029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TODAY: AUGMENTATION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FF6A39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AI helps people work faster and decide better — without displacing labour.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FF6A39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Three-quarters of skills European employers seek are used in BOTH automatable and non-automatable work.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FF6A39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Demand for AI-skilled roles grew +7.5% even as total job postings fell 11.3%.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6A39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AI-skilled roles command a 56% wage premium.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39496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394960" cy="502920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17904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NEXT: SELECTIVE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15–25% of work hours expected to be automated by 2030 (midpoint scenarios).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Sector range: ~18% in healthcare to ~30% in manufacturing.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Work shifts to collaboration among people, AI agents and robots.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—  </a:t>
            </a:r>
            <a:r>
              <a:rPr sz="1300">
                <a:solidFill>
                  <a:srgbClr val="53565A"/>
                </a:solidFill>
                <a:latin typeface="Calibri"/>
              </a:rPr>
              <a:t>Outcome is transformation of jobs — not a ‘job apocalypse’.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Implication for Mercer:  the value is in redesigning roles and tasks — deciding what humans keep, what AI takes, and how the two combine. That is job architecture and work-redesign advisory.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362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Sources: McKinsey Global Institute (2026); PwC 2025 Global AI Jobs Barometer.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04  ·  THE WIDENING SKILLS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Demand is shifting fastest where AI exposure is highest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4846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>
                <a:solidFill>
                  <a:srgbClr val="53565A"/>
                </a:solidFill>
                <a:latin typeface="Calibri"/>
              </a:rPr>
              <a:t>Nearly 1 in 5 European occupations now require AI-related skills — more than tripled since 2023.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>
                <a:solidFill>
                  <a:srgbClr val="53565A"/>
                </a:solidFill>
                <a:latin typeface="Calibri"/>
              </a:rPr>
              <a:t>Skills sought change 66% faster in roles most exposed to AI.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>
                <a:solidFill>
                  <a:srgbClr val="53565A"/>
                </a:solidFill>
                <a:latin typeface="Calibri"/>
              </a:rPr>
              <a:t>Demand for AI fluency rose ~5× between Q4-2023 and Q4-2025.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>
                <a:solidFill>
                  <a:srgbClr val="53565A"/>
                </a:solidFill>
                <a:latin typeface="Calibri"/>
              </a:rPr>
              <a:t>Sweden leads — over 1 in 4 occupations require AI skills; Poland and the UK show the fastest demand growth.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6A39"/>
                </a:solidFill>
                <a:latin typeface="Calibri"/>
              </a:rPr>
              <a:t>—  </a:t>
            </a:r>
            <a:r>
              <a:rPr sz="1400">
                <a:solidFill>
                  <a:srgbClr val="53565A"/>
                </a:solidFill>
                <a:latin typeface="Calibri"/>
              </a:rPr>
              <a:t>Yet ~17% of European organisations invest in AI tools without building the capability to use them.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852160" y="1554480"/>
          <a:ext cx="58064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2362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Sources: PwC 2025 Global AI Jobs Barometer; McKinsey Global Institute (2026); EPC / ILO (2025).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05  ·  WORKFORCE SENTIMENT &amp;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The human side is eroding — and that is Mercer's right to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2670048" cy="187451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1874519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2359152" cy="1655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6A39"/>
                </a:solidFill>
                <a:latin typeface="Calibri"/>
              </a:rPr>
              <a:t>44%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employees are ‘thriving’ at work — down sharply from 66% in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1463040"/>
            <a:ext cx="2670048" cy="187451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463040"/>
            <a:ext cx="73152" cy="1874519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591056"/>
            <a:ext cx="2359152" cy="1655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A1A40"/>
                </a:solidFill>
                <a:latin typeface="Calibri"/>
              </a:rPr>
              <a:t>40%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fear losing their job to AI — up from 28% in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2670048" cy="187451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63040"/>
            <a:ext cx="73152" cy="1874519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91056"/>
            <a:ext cx="2359152" cy="1655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A19A"/>
                </a:solidFill>
                <a:latin typeface="Calibri"/>
              </a:rPr>
              <a:t>63%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would trade a 10% pay rise for AI &amp; digital upskilling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5128" y="1463040"/>
            <a:ext cx="2670048" cy="187451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5128" y="1463040"/>
            <a:ext cx="73152" cy="1874519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591056"/>
            <a:ext cx="2359152" cy="1655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073CF"/>
                </a:solidFill>
                <a:latin typeface="Calibri"/>
              </a:rPr>
              <a:t>51%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of C-suite feel prepared for the human-machine era (was 65%)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11018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A1A40"/>
                </a:solidFill>
                <a:latin typeface="Calibri"/>
              </a:rPr>
              <a:t>The readiness gap is a trust gap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Falling wellbeing and rising AI anxiety undermine the very adoption leaders are chasing — disengaged people don't transform.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Employees are hungry to reskill — appetite is not the barrier; clear pathways, fair reward and trusted change are.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FF6A39"/>
                </a:solidFill>
                <a:latin typeface="Calibri"/>
              </a:rPr>
              <a:t>—  </a:t>
            </a:r>
            <a:r>
              <a:rPr sz="1350">
                <a:solidFill>
                  <a:srgbClr val="53565A"/>
                </a:solidFill>
                <a:latin typeface="Calibri"/>
              </a:rPr>
              <a:t>Mercer's heritage in reward, wellbeing, communication and change makes the human transition our most defensible territory in AI transformation.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Source: Mercer Global Talent Trends 2026.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06  ·  IMPLICATIONS FOR MERCER CAREER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Where demand pulls — and where we must defend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406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40680" cy="4572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DEMAND PULL — WHERE MERCER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Skills-based organisation:</a:t>
            </a:r>
            <a:r>
              <a:rPr sz="1250">
                <a:solidFill>
                  <a:srgbClr val="53565A"/>
                </a:solidFill>
                <a:latin typeface="Calibri"/>
              </a:rPr>
              <a:t> job architecture and skills taxonomies as roles dissolve into tasks.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AI-ready career frameworks:</a:t>
            </a:r>
            <a:r>
              <a:rPr sz="1250">
                <a:solidFill>
                  <a:srgbClr val="53565A"/>
                </a:solidFill>
                <a:latin typeface="Calibri"/>
              </a:rPr>
              <a:t> new ladders, internal mobility and talent marketplaces.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Work &amp; role redesign:</a:t>
            </a:r>
            <a:r>
              <a:rPr sz="1250">
                <a:solidFill>
                  <a:srgbClr val="53565A"/>
                </a:solidFill>
                <a:latin typeface="Calibri"/>
              </a:rPr>
              <a:t> deciding human vs. AI task allocation, sized for value.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Reskilling at scale:</a:t>
            </a:r>
            <a:r>
              <a:rPr sz="1250">
                <a:solidFill>
                  <a:srgbClr val="53565A"/>
                </a:solidFill>
                <a:latin typeface="Calibri"/>
              </a:rPr>
              <a:t> capability strategy, learning pathways, workforce planning.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Reward recalibration:</a:t>
            </a:r>
            <a:r>
              <a:rPr sz="1250">
                <a:solidFill>
                  <a:srgbClr val="53565A"/>
                </a:solidFill>
                <a:latin typeface="Calibri"/>
              </a:rPr>
              <a:t> pricing AI-skill premiums and new job values.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✓  </a:t>
            </a:r>
            <a:r>
              <a:rPr sz="1250" b="1">
                <a:solidFill>
                  <a:srgbClr val="1A1D29"/>
                </a:solidFill>
                <a:latin typeface="Calibri"/>
              </a:rPr>
              <a:t>Change, trust &amp; wellbeing:</a:t>
            </a:r>
            <a:r>
              <a:rPr sz="1250">
                <a:solidFill>
                  <a:srgbClr val="53565A"/>
                </a:solidFill>
                <a:latin typeface="Calibri"/>
              </a:rPr>
              <a:t> the human transition leaders cannot self-serve.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406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40680" cy="457200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PRESSURE — WHAT WE MUST DEFEND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Commoditisation:</a:t>
            </a:r>
            <a:r>
              <a:rPr sz="1250">
                <a:solidFill>
                  <a:srgbClr val="53565A"/>
                </a:solidFill>
                <a:latin typeface="Calibri"/>
              </a:rPr>
              <a:t> AI tools let clients self-serve benchmarking, surveys and job levelling.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New competitors:</a:t>
            </a:r>
            <a:r>
              <a:rPr sz="1250">
                <a:solidFill>
                  <a:srgbClr val="53565A"/>
                </a:solidFill>
                <a:latin typeface="Calibri"/>
              </a:rPr>
              <a:t> AI-native HR-tech and platforms entering Mercer's core.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Speed expectations:</a:t>
            </a:r>
            <a:r>
              <a:rPr sz="1250">
                <a:solidFill>
                  <a:srgbClr val="53565A"/>
                </a:solidFill>
                <a:latin typeface="Calibri"/>
              </a:rPr>
              <a:t> clients want real-time insight, not annual studies.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Credibility risk:</a:t>
            </a:r>
            <a:r>
              <a:rPr sz="1250">
                <a:solidFill>
                  <a:srgbClr val="53565A"/>
                </a:solidFill>
                <a:latin typeface="Calibri"/>
              </a:rPr>
              <a:t> advising on AI work while delivering it manually erodes trust.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Talent &amp; margin:</a:t>
            </a:r>
            <a:r>
              <a:rPr sz="1250">
                <a:solidFill>
                  <a:srgbClr val="53565A"/>
                </a:solidFill>
                <a:latin typeface="Calibri"/>
              </a:rPr>
              <a:t> consultants themselves must be AI-fluent to stay productive.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FF6A39"/>
                </a:solidFill>
                <a:latin typeface="Calibri"/>
              </a:rPr>
              <a:t>!  </a:t>
            </a:r>
            <a:r>
              <a:rPr sz="1250" b="1">
                <a:solidFill>
                  <a:srgbClr val="1A1D29"/>
                </a:solidFill>
                <a:latin typeface="Calibri"/>
              </a:rPr>
              <a:t>Data advantage at risk:</a:t>
            </a:r>
            <a:r>
              <a:rPr sz="1250">
                <a:solidFill>
                  <a:srgbClr val="53565A"/>
                </a:solidFill>
                <a:latin typeface="Calibri"/>
              </a:rPr>
              <a:t> proprietary data must become AI-activated, not static.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06  ·  MERCER'S STARTING POSITION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We are not starting from zero in Europe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3565A"/>
                </a:solidFill>
                <a:latin typeface="Calibri"/>
              </a:rPr>
              <a:t>Existing assets to build on as we scale an AI-and-careers proposition: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AI advisory solutions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‘AI Pathmaker’ and Talent &amp; Workforce Strategy offerings help clients chart and govern AI-enabled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2057400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057400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221992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European depth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Acquisition of hkp///group (Germany) and a dedicated UK &amp; Europe Organizational Transformation practice (based in Paris).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2057400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2057400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221992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People-analytics engine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Partnership with Crunchr (Netherlands) and ‘Mercer Digital’ embed analytics and AI across practices in 40+ countries.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50207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950207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114799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Skills &amp; reward data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Deep pay, skills and job-architecture datasets — the raw material for AI-driven career and reward tools.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3950207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3950207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4114799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Trusted human-capital brand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Heritage in reward, wellbeing and change gives Mercer permission to own the human side of AI transformation.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3950207"/>
            <a:ext cx="3584448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3950207"/>
            <a:ext cx="3584448" cy="6400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114799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A1A40"/>
                </a:solidFill>
                <a:latin typeface="Calibri"/>
              </a:rPr>
              <a:t>Global Talent Trends platform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3565A"/>
                </a:solidFill>
                <a:latin typeface="Calibri"/>
              </a:rPr>
              <a:t>Annual evidence base (≈12,000 voices) positions Mercer as the authority on the future of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362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8E96"/>
                </a:solidFill>
                <a:latin typeface="Calibri"/>
              </a:rPr>
              <a:t>Sources: Mercer.com solutions; Consultancy.eu (2024–25).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07  ·  STRATEGIC RECOMMENDATIONS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A horizon-based action agenda for Mercer Career Europe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60273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3602736" cy="566928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961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NOW  (0–6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154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73CF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Package an ‘AI &amp; the Future of Careers’ POV per major European market.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73CF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Launch work-redesign / job-architecture diagnostics as a lead offer.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73CF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Equip every Career consultant with AI fluency and AI-assisted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60273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463040"/>
            <a:ext cx="3602736" cy="566928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49961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NEXT  (6–18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3154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Productise skills-based org design and AI-ready career frameworks.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Activate Mercer pay &amp; skills data into AI-driven client tools.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0A19A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Scale reskilling &amp; internal-mobility programmes with partners.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463040"/>
            <a:ext cx="360273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463040"/>
            <a:ext cx="3602736" cy="56692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49961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LATER  (18 months 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40280"/>
            <a:ext cx="3154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A1A40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Build a recurring, data-led ‘future-of-work’ subscription model.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A1A40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Lead on AI workforce governance, ethics and trust advisory.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0A1A40"/>
                </a:solidFill>
                <a:latin typeface="Calibri"/>
              </a:rPr>
              <a:t>—  </a:t>
            </a:r>
            <a:r>
              <a:rPr sz="1250">
                <a:solidFill>
                  <a:srgbClr val="53565A"/>
                </a:solidFill>
                <a:latin typeface="Calibri"/>
              </a:rPr>
              <a:t>Embed wellbeing &amp; change as the signature human layer of AI transformation.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84648"/>
            <a:ext cx="12191695" cy="457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The opportunity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AI is redrawing European careers — and clients need a trusted guide for the human side of that change.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7D4EA"/>
                </a:solidFill>
                <a:latin typeface="Calibri"/>
              </a:rPr>
              <a:t>Mercer's data, European footprint and human-capital heritage make Career the natural owner of AI-and-work advisory. The window is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Recommended next step:  endorse the NOW agenda and stand up a Europe ‘AI &amp; Careers’ working group.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F6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3CF"/>
                </a:solidFill>
                <a:latin typeface="Calibri"/>
              </a:rPr>
              <a:t>APPENDIX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1A40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177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9728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A1A40"/>
                </a:solidFill>
                <a:latin typeface="Calibri"/>
              </a:rPr>
              <a:t>Primary evidence base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Mercer, Global Talent Trends 2026 — survey of ≈12,000 executives, HR leaders, employees &amp; investors across 16 geographies and 16 industries (Sep–Oct 2025).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McKinsey Global Institute, ‘Agents, robots, and us: How AI reshapes work and skills in Europe’ (2026) — automation potential, 2030 scenarios, skills overlap.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PwC, 2025 Global AI Jobs Barometer — AI-skill demand, wage premium, occupational exposure.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European Policy Centre (EPC) &amp; International Labour Organization (ILO), generative AI and the EU labour market (2025).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CEPR, ‘How AI is affecting productivity and jobs in Europe’ (2025).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0073CF"/>
                </a:solidFill>
                <a:latin typeface="Calibri"/>
              </a:rPr>
              <a:t>•  </a:t>
            </a:r>
            <a:r>
              <a:rPr sz="1200">
                <a:solidFill>
                  <a:srgbClr val="53565A"/>
                </a:solidFill>
                <a:latin typeface="Calibri"/>
              </a:rPr>
              <a:t>Mercer.com — AI Pathmaker, Talent &amp; Workforce Strategy solutions; Consultancy.eu — hkp///group acquisition, Crunchr partnership, leadership appointments (2024–25).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A1A40"/>
                </a:solidFill>
                <a:latin typeface="Calibri"/>
              </a:rPr>
              <a:t>Note on branding &amp; figures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3565A"/>
                </a:solidFill>
                <a:latin typeface="Calibri"/>
              </a:rPr>
              <a:t>Colours approximate Mercer's corporate identity for internal use; replace with the official Mercer template and logo before external distribution. Statistics are drawn from the published sources above as of June 2026 and should be re-verified before client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Mercer  |  Internal — AI &amp; the Future of Careers in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